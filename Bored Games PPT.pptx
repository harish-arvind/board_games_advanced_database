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Chau Philomene" panose="020B0604020202020204" charset="0"/>
      <p:regular r:id="rId16"/>
    </p:embeddedFont>
    <p:embeddedFont>
      <p:font typeface="More Sugar" panose="020B0604020202020204" charset="0"/>
      <p:regular r:id="rId17"/>
    </p:embeddedFont>
    <p:embeddedFont>
      <p:font typeface="Now" panose="020B0604020202020204" charset="0"/>
      <p:regular r:id="rId18"/>
    </p:embeddedFont>
    <p:embeddedFont>
      <p:font typeface="Now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029" y="51804"/>
            <a:ext cx="2996578" cy="976896"/>
          </a:xfrm>
          <a:custGeom>
            <a:avLst/>
            <a:gdLst/>
            <a:ahLst/>
            <a:cxnLst/>
            <a:rect l="l" t="t" r="r" b="b"/>
            <a:pathLst>
              <a:path w="2996578" h="976896">
                <a:moveTo>
                  <a:pt x="0" y="0"/>
                </a:moveTo>
                <a:lnTo>
                  <a:pt x="2996578" y="0"/>
                </a:lnTo>
                <a:lnTo>
                  <a:pt x="2996578" y="976896"/>
                </a:lnTo>
                <a:lnTo>
                  <a:pt x="0" y="9768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018116" y="4487588"/>
            <a:ext cx="6251768" cy="4114800"/>
          </a:xfrm>
          <a:custGeom>
            <a:avLst/>
            <a:gdLst/>
            <a:ahLst/>
            <a:cxnLst/>
            <a:rect l="l" t="t" r="r" b="b"/>
            <a:pathLst>
              <a:path w="6251768" h="4114800">
                <a:moveTo>
                  <a:pt x="0" y="0"/>
                </a:moveTo>
                <a:lnTo>
                  <a:pt x="6251768" y="0"/>
                </a:lnTo>
                <a:lnTo>
                  <a:pt x="62517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2112426" y="4136705"/>
            <a:ext cx="2072363" cy="4114800"/>
          </a:xfrm>
          <a:custGeom>
            <a:avLst/>
            <a:gdLst/>
            <a:ahLst/>
            <a:cxnLst/>
            <a:rect l="l" t="t" r="r" b="b"/>
            <a:pathLst>
              <a:path w="2072363" h="4114800">
                <a:moveTo>
                  <a:pt x="0" y="0"/>
                </a:moveTo>
                <a:lnTo>
                  <a:pt x="2072363" y="0"/>
                </a:lnTo>
                <a:lnTo>
                  <a:pt x="207236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3736127" y="4861923"/>
            <a:ext cx="2436682" cy="2664364"/>
          </a:xfrm>
          <a:custGeom>
            <a:avLst/>
            <a:gdLst/>
            <a:ahLst/>
            <a:cxnLst/>
            <a:rect l="l" t="t" r="r" b="b"/>
            <a:pathLst>
              <a:path w="2436682" h="2664364">
                <a:moveTo>
                  <a:pt x="0" y="0"/>
                </a:moveTo>
                <a:lnTo>
                  <a:pt x="2436682" y="0"/>
                </a:lnTo>
                <a:lnTo>
                  <a:pt x="2436682" y="2664364"/>
                </a:lnTo>
                <a:lnTo>
                  <a:pt x="0" y="26643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3951066" y="2520949"/>
            <a:ext cx="10385868" cy="654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26"/>
              </a:lnSpc>
            </a:pPr>
            <a:r>
              <a:rPr lang="en-US" sz="4647" spc="171">
                <a:solidFill>
                  <a:srgbClr val="1F1E4A"/>
                </a:solidFill>
                <a:latin typeface="More Sugar"/>
                <a:ea typeface="More Sugar"/>
                <a:cs typeface="More Sugar"/>
                <a:sym typeface="More Sugar"/>
              </a:rPr>
              <a:t>ADVANCED DATABASE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86245" y="838200"/>
            <a:ext cx="14586564" cy="1635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300"/>
              </a:lnSpc>
            </a:pPr>
            <a:r>
              <a:rPr lang="en-US" sz="9500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BoredGames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-560645" y="9857736"/>
            <a:ext cx="19913565" cy="429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5"/>
              </a:lnSpc>
            </a:pPr>
            <a:r>
              <a:rPr lang="en-US" sz="2453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Groupe : Camille DOMMERGUE, Nissanth NADARASSIN, Harish Arvind SELVAKUMAR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487775" y="257175"/>
            <a:ext cx="1543050" cy="154305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010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35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9442342" y="2157778"/>
            <a:ext cx="7276454" cy="7276454"/>
          </a:xfrm>
          <a:custGeom>
            <a:avLst/>
            <a:gdLst/>
            <a:ahLst/>
            <a:cxnLst/>
            <a:rect l="l" t="t" r="r" b="b"/>
            <a:pathLst>
              <a:path w="7276454" h="7276454">
                <a:moveTo>
                  <a:pt x="0" y="0"/>
                </a:moveTo>
                <a:lnTo>
                  <a:pt x="7276455" y="0"/>
                </a:lnTo>
                <a:lnTo>
                  <a:pt x="7276455" y="7276455"/>
                </a:lnTo>
                <a:lnTo>
                  <a:pt x="0" y="72764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6096000" y="150178"/>
            <a:ext cx="5579939" cy="15760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dirty="0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Summary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0" y="3722774"/>
            <a:ext cx="8816146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1 - Bored Game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27854" y="5038725"/>
            <a:ext cx="8816146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2 - Our Database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0" y="6615921"/>
            <a:ext cx="8816146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3 - The Website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487775" y="257175"/>
            <a:ext cx="1543050" cy="154305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010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35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651207" y="2481180"/>
            <a:ext cx="6260778" cy="6098352"/>
          </a:xfrm>
          <a:custGeom>
            <a:avLst/>
            <a:gdLst/>
            <a:ahLst/>
            <a:cxnLst/>
            <a:rect l="l" t="t" r="r" b="b"/>
            <a:pathLst>
              <a:path w="6260778" h="6098352">
                <a:moveTo>
                  <a:pt x="0" y="0"/>
                </a:moveTo>
                <a:lnTo>
                  <a:pt x="6260778" y="0"/>
                </a:lnTo>
                <a:lnTo>
                  <a:pt x="6260778" y="6098352"/>
                </a:lnTo>
                <a:lnTo>
                  <a:pt x="0" y="60983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2819401" y="76200"/>
            <a:ext cx="10687166" cy="15760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dirty="0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Project description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2424030"/>
            <a:ext cx="9358617" cy="7184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3"/>
              </a:lnSpc>
              <a:spcBef>
                <a:spcPct val="0"/>
              </a:spcBef>
            </a:pPr>
            <a:r>
              <a:rPr lang="en-US" sz="2902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Bored Game is a website catalog for various board games. The board game library web application serves as a centralized platform for board game enthusiasts to explore, track, and participate in board gaming events. It provides a catalog of board games, helps users manage their personal game collection, rate games and facilitates community engagement through event participation. </a:t>
            </a:r>
          </a:p>
          <a:p>
            <a:pPr algn="l">
              <a:lnSpc>
                <a:spcPts val="4063"/>
              </a:lnSpc>
              <a:spcBef>
                <a:spcPct val="0"/>
              </a:spcBef>
            </a:pPr>
            <a:endParaRPr lang="en-US" sz="2902">
              <a:solidFill>
                <a:srgbClr val="000000"/>
              </a:solidFill>
              <a:latin typeface="Now"/>
              <a:ea typeface="Now"/>
              <a:cs typeface="Now"/>
              <a:sym typeface="Now"/>
            </a:endParaRPr>
          </a:p>
          <a:p>
            <a:pPr algn="l">
              <a:lnSpc>
                <a:spcPts val="4063"/>
              </a:lnSpc>
              <a:spcBef>
                <a:spcPct val="0"/>
              </a:spcBef>
            </a:pPr>
            <a:endParaRPr lang="en-US" sz="2902">
              <a:solidFill>
                <a:srgbClr val="000000"/>
              </a:solidFill>
              <a:latin typeface="Now"/>
              <a:ea typeface="Now"/>
              <a:cs typeface="Now"/>
              <a:sym typeface="Now"/>
            </a:endParaRPr>
          </a:p>
          <a:p>
            <a:pPr algn="l">
              <a:lnSpc>
                <a:spcPts val="4063"/>
              </a:lnSpc>
              <a:spcBef>
                <a:spcPct val="0"/>
              </a:spcBef>
            </a:pPr>
            <a:r>
              <a:rPr lang="en-US" sz="2902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The target audience is a community of enthusiast board game collectors / players.</a:t>
            </a:r>
          </a:p>
          <a:p>
            <a:pPr algn="l">
              <a:lnSpc>
                <a:spcPts val="4063"/>
              </a:lnSpc>
              <a:spcBef>
                <a:spcPct val="0"/>
              </a:spcBef>
            </a:pPr>
            <a:endParaRPr lang="en-US" sz="2902">
              <a:solidFill>
                <a:srgbClr val="000000"/>
              </a:solidFill>
              <a:latin typeface="Now"/>
              <a:ea typeface="Now"/>
              <a:cs typeface="Now"/>
              <a:sym typeface="No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487775" y="257175"/>
            <a:ext cx="1543050" cy="154305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E1E4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35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126705" y="2114453"/>
            <a:ext cx="12034590" cy="7500568"/>
          </a:xfrm>
          <a:custGeom>
            <a:avLst/>
            <a:gdLst/>
            <a:ahLst/>
            <a:cxnLst/>
            <a:rect l="l" t="t" r="r" b="b"/>
            <a:pathLst>
              <a:path w="12034590" h="7500568">
                <a:moveTo>
                  <a:pt x="0" y="0"/>
                </a:moveTo>
                <a:lnTo>
                  <a:pt x="12034590" y="0"/>
                </a:lnTo>
                <a:lnTo>
                  <a:pt x="12034590" y="7500568"/>
                </a:lnTo>
                <a:lnTo>
                  <a:pt x="0" y="75005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4470946" y="150178"/>
            <a:ext cx="9346109" cy="1576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Use case diagram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407580" y="2370706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58008" y="331153"/>
            <a:ext cx="6141744" cy="9469542"/>
          </a:xfrm>
          <a:custGeom>
            <a:avLst/>
            <a:gdLst/>
            <a:ahLst/>
            <a:cxnLst/>
            <a:rect l="l" t="t" r="r" b="b"/>
            <a:pathLst>
              <a:path w="6141744" h="9469542">
                <a:moveTo>
                  <a:pt x="0" y="0"/>
                </a:moveTo>
                <a:lnTo>
                  <a:pt x="6141744" y="0"/>
                </a:lnTo>
                <a:lnTo>
                  <a:pt x="6141744" y="9469542"/>
                </a:lnTo>
                <a:lnTo>
                  <a:pt x="0" y="94695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5979799" y="7129965"/>
            <a:ext cx="12308201" cy="1546218"/>
          </a:xfrm>
          <a:custGeom>
            <a:avLst/>
            <a:gdLst/>
            <a:ahLst/>
            <a:cxnLst/>
            <a:rect l="l" t="t" r="r" b="b"/>
            <a:pathLst>
              <a:path w="12308201" h="1546218">
                <a:moveTo>
                  <a:pt x="0" y="0"/>
                </a:moveTo>
                <a:lnTo>
                  <a:pt x="12308201" y="0"/>
                </a:lnTo>
                <a:lnTo>
                  <a:pt x="12308201" y="1546218"/>
                </a:lnTo>
                <a:lnTo>
                  <a:pt x="0" y="15462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7086601" y="150178"/>
            <a:ext cx="9084188" cy="15760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dirty="0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Database Used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487775" y="257175"/>
            <a:ext cx="1543050" cy="154305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35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828758" y="2127827"/>
            <a:ext cx="4258505" cy="3406804"/>
          </a:xfrm>
          <a:custGeom>
            <a:avLst/>
            <a:gdLst/>
            <a:ahLst/>
            <a:cxnLst/>
            <a:rect l="l" t="t" r="r" b="b"/>
            <a:pathLst>
              <a:path w="4258505" h="3406804">
                <a:moveTo>
                  <a:pt x="0" y="0"/>
                </a:moveTo>
                <a:lnTo>
                  <a:pt x="4258505" y="0"/>
                </a:lnTo>
                <a:lnTo>
                  <a:pt x="4258505" y="3406804"/>
                </a:lnTo>
                <a:lnTo>
                  <a:pt x="0" y="3406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3528283" y="528002"/>
            <a:ext cx="11231433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Advanced featers - Views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06351" y="1762125"/>
            <a:ext cx="8337649" cy="8007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endParaRPr/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b="1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-- A. Recently added 10 games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DROP VIEW IF EXISTS Recent_Games;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CREATE VIEW Recent_Games AS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SELECT * FROM BOARD_GAMES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ORDER BY updated_at DESC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LIMIT 10;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endParaRPr lang="en-US" sz="1599">
              <a:solidFill>
                <a:srgbClr val="000000"/>
              </a:solidFill>
              <a:latin typeface="Now"/>
              <a:ea typeface="Now"/>
              <a:cs typeface="Now"/>
              <a:sym typeface="Now"/>
            </a:endParaRP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b="1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-- B. List of users for admin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DROP VIEW IF EXISTS Admin_UserList;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CREATE VIEW Admin_UserList AS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SELECT user_id, username, is_admin, is_blocked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FROM Users;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endParaRPr lang="en-US" sz="1599">
              <a:solidFill>
                <a:srgbClr val="000000"/>
              </a:solidFill>
              <a:latin typeface="Now"/>
              <a:ea typeface="Now"/>
              <a:cs typeface="Now"/>
              <a:sym typeface="Now"/>
            </a:endParaRP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b="1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-- C. List of games for admin to manage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DROP VIEW IF EXISTS Admin_BoardGames;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CREATE VIEW Admin_BoardGames AS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SELECT game_id, name, year_published, min_players, max_players, average_rating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FROM BOARD_GAMES;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endParaRPr lang="en-US" sz="1599">
              <a:solidFill>
                <a:srgbClr val="000000"/>
              </a:solidFill>
              <a:latin typeface="Now"/>
              <a:ea typeface="Now"/>
              <a:cs typeface="Now"/>
              <a:sym typeface="Now"/>
            </a:endParaRP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b="1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-- D. List of games owned and number of owners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DROP VIEW IF EXISTS Games_Owned_Count;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CREATE VIEW Games_Owned_Count AS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SELECT bg.name, COUNT(go.user_id) AS owners_count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FROM BOARD_GAMES bg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JOIN GameOwned go ON bg.game_id = go.game_id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GROUP BY bg.game_id;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GROUP BY g.genre_id;</a:t>
            </a:r>
          </a:p>
          <a:p>
            <a:pPr algn="ctr">
              <a:lnSpc>
                <a:spcPts val="2239"/>
              </a:lnSpc>
              <a:spcBef>
                <a:spcPct val="0"/>
              </a:spcBef>
            </a:pPr>
            <a:endParaRPr lang="en-US" sz="1599">
              <a:solidFill>
                <a:srgbClr val="000000"/>
              </a:solidFill>
              <a:latin typeface="Now"/>
              <a:ea typeface="Now"/>
              <a:cs typeface="Now"/>
              <a:sym typeface="Now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876657" y="2340263"/>
            <a:ext cx="6382643" cy="6350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b="1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-- E. Events and number of participants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DROP VIEW IF EXISTS Event_Participation;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CREATE VIEW Event_Participation AS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SELECT e.name, e.event_time, COUNT(p.user_id) AS participants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FROM EVENTS e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LEFT JOIN ParticipateTo p ON e.event_id = p.event_id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GROUP BY e.event_id;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endParaRPr lang="en-US" sz="1599">
              <a:solidFill>
                <a:srgbClr val="000000"/>
              </a:solidFill>
              <a:latin typeface="Now"/>
              <a:ea typeface="Now"/>
              <a:cs typeface="Now"/>
              <a:sym typeface="Now"/>
            </a:endParaRP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b="1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-- F. Games and their genres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DROP VIEW IF EXISTS Game_Genres;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CREATE VIEW Game_Genres AS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SELECT bg.name AS game, g.name AS genre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FROM BOARD_GAMES bg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JOIN IsOfGenre ig ON bg.game_id = ig.game_id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JOIN GENRES g ON ig.genre_id = g.genre_id;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endParaRPr lang="en-US" sz="1599">
              <a:solidFill>
                <a:srgbClr val="000000"/>
              </a:solidFill>
              <a:latin typeface="Now"/>
              <a:ea typeface="Now"/>
              <a:cs typeface="Now"/>
              <a:sym typeface="Now"/>
            </a:endParaRP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b="1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-- G. Genres and number of games in each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DROP VIEW IF EXISTS Genre_Game_Count;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CREATE VIEW Genre_Game_Count AS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SELECT g.name AS genre, COUNT(ig.game_id) AS total_games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FROM GENRES g</a:t>
            </a:r>
          </a:p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LEFT JOIN IsOfGenre ig ON g.genre_id = ig.genre_id</a:t>
            </a:r>
          </a:p>
          <a:p>
            <a:pPr algn="ctr">
              <a:lnSpc>
                <a:spcPts val="2239"/>
              </a:lnSpc>
              <a:spcBef>
                <a:spcPct val="0"/>
              </a:spcBef>
            </a:pPr>
            <a:endParaRPr lang="en-US" sz="1599">
              <a:solidFill>
                <a:srgbClr val="000000"/>
              </a:solidFill>
              <a:latin typeface="Now"/>
              <a:ea typeface="Now"/>
              <a:cs typeface="Now"/>
              <a:sym typeface="No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487775" y="257175"/>
            <a:ext cx="1543050" cy="154305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35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7075421" y="5387222"/>
            <a:ext cx="4152550" cy="4114800"/>
          </a:xfrm>
          <a:custGeom>
            <a:avLst/>
            <a:gdLst/>
            <a:ahLst/>
            <a:cxnLst/>
            <a:rect l="l" t="t" r="r" b="b"/>
            <a:pathLst>
              <a:path w="4152550" h="4114800">
                <a:moveTo>
                  <a:pt x="0" y="0"/>
                </a:moveTo>
                <a:lnTo>
                  <a:pt x="4152551" y="0"/>
                </a:lnTo>
                <a:lnTo>
                  <a:pt x="415255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3528283" y="528002"/>
            <a:ext cx="11231433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Advanced featers - Indexes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543676" y="2258974"/>
            <a:ext cx="11216041" cy="2242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67"/>
              </a:lnSpc>
              <a:spcBef>
                <a:spcPct val="0"/>
              </a:spcBef>
            </a:pPr>
            <a:endParaRPr/>
          </a:p>
          <a:p>
            <a:pPr algn="l">
              <a:lnSpc>
                <a:spcPts val="3667"/>
              </a:lnSpc>
              <a:spcBef>
                <a:spcPct val="0"/>
              </a:spcBef>
            </a:pPr>
            <a:r>
              <a:rPr lang="en-US" sz="261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CREATE INDEX idx_user_username ON Users(username);</a:t>
            </a:r>
          </a:p>
          <a:p>
            <a:pPr algn="l">
              <a:lnSpc>
                <a:spcPts val="3667"/>
              </a:lnSpc>
              <a:spcBef>
                <a:spcPct val="0"/>
              </a:spcBef>
            </a:pPr>
            <a:r>
              <a:rPr lang="en-US" sz="261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CREATE INDEX idx_game_name ON BOARD_GAMES(name);</a:t>
            </a:r>
          </a:p>
          <a:p>
            <a:pPr algn="l">
              <a:lnSpc>
                <a:spcPts val="3667"/>
              </a:lnSpc>
              <a:spcBef>
                <a:spcPct val="0"/>
              </a:spcBef>
            </a:pPr>
            <a:r>
              <a:rPr lang="en-US" sz="261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CREATE INDEX idx_rating_game_user ON Rating(game_id, user_id);</a:t>
            </a:r>
          </a:p>
          <a:p>
            <a:pPr algn="l">
              <a:lnSpc>
                <a:spcPts val="3667"/>
              </a:lnSpc>
              <a:spcBef>
                <a:spcPct val="0"/>
              </a:spcBef>
            </a:pPr>
            <a:r>
              <a:rPr lang="en-US" sz="261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CREATE INDEX idx_event_time ON EVENTS(event_time);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487775" y="257175"/>
            <a:ext cx="1543050" cy="154305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3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006024" y="2401099"/>
            <a:ext cx="5546793" cy="6287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1"/>
              </a:lnSpc>
              <a:spcBef>
                <a:spcPct val="0"/>
              </a:spcBef>
            </a:pPr>
            <a:r>
              <a:rPr lang="en-US" sz="1079" b="1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-- C. Update updated_at on game modification</a:t>
            </a:r>
          </a:p>
          <a:p>
            <a:pPr algn="l">
              <a:lnSpc>
                <a:spcPts val="1511"/>
              </a:lnSpc>
              <a:spcBef>
                <a:spcPct val="0"/>
              </a:spcBef>
            </a:pPr>
            <a:r>
              <a:rPr lang="en-US" sz="107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DROP TRIGGER IF EXISTS set_updated_at;</a:t>
            </a:r>
          </a:p>
          <a:p>
            <a:pPr algn="l">
              <a:lnSpc>
                <a:spcPts val="1511"/>
              </a:lnSpc>
              <a:spcBef>
                <a:spcPct val="0"/>
              </a:spcBef>
            </a:pPr>
            <a:r>
              <a:rPr lang="en-US" sz="107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DELIMITER //</a:t>
            </a:r>
          </a:p>
          <a:p>
            <a:pPr algn="l">
              <a:lnSpc>
                <a:spcPts val="1511"/>
              </a:lnSpc>
              <a:spcBef>
                <a:spcPct val="0"/>
              </a:spcBef>
            </a:pPr>
            <a:endParaRPr lang="en-US" sz="1079">
              <a:solidFill>
                <a:srgbClr val="000000"/>
              </a:solidFill>
              <a:latin typeface="Now"/>
              <a:ea typeface="Now"/>
              <a:cs typeface="Now"/>
              <a:sym typeface="Now"/>
            </a:endParaRPr>
          </a:p>
          <a:p>
            <a:pPr algn="l">
              <a:lnSpc>
                <a:spcPts val="1511"/>
              </a:lnSpc>
              <a:spcBef>
                <a:spcPct val="0"/>
              </a:spcBef>
            </a:pPr>
            <a:r>
              <a:rPr lang="en-US" sz="107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CREATE TRIGGER set_updated_at BEFORE UPDATE ON BOARD_GAMES</a:t>
            </a:r>
          </a:p>
          <a:p>
            <a:pPr algn="l">
              <a:lnSpc>
                <a:spcPts val="1511"/>
              </a:lnSpc>
              <a:spcBef>
                <a:spcPct val="0"/>
              </a:spcBef>
            </a:pPr>
            <a:r>
              <a:rPr lang="en-US" sz="107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FOR EACH ROW</a:t>
            </a:r>
          </a:p>
          <a:p>
            <a:pPr algn="l">
              <a:lnSpc>
                <a:spcPts val="1511"/>
              </a:lnSpc>
              <a:spcBef>
                <a:spcPct val="0"/>
              </a:spcBef>
            </a:pPr>
            <a:r>
              <a:rPr lang="en-US" sz="107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BEGIN</a:t>
            </a:r>
          </a:p>
          <a:p>
            <a:pPr algn="l">
              <a:lnSpc>
                <a:spcPts val="1511"/>
              </a:lnSpc>
              <a:spcBef>
                <a:spcPct val="0"/>
              </a:spcBef>
            </a:pPr>
            <a:r>
              <a:rPr lang="en-US" sz="107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 SET NEW.updated_at = NOW();</a:t>
            </a:r>
          </a:p>
          <a:p>
            <a:pPr algn="l">
              <a:lnSpc>
                <a:spcPts val="1511"/>
              </a:lnSpc>
              <a:spcBef>
                <a:spcPct val="0"/>
              </a:spcBef>
            </a:pPr>
            <a:r>
              <a:rPr lang="en-US" sz="107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END;</a:t>
            </a:r>
          </a:p>
          <a:p>
            <a:pPr algn="l">
              <a:lnSpc>
                <a:spcPts val="1511"/>
              </a:lnSpc>
              <a:spcBef>
                <a:spcPct val="0"/>
              </a:spcBef>
            </a:pPr>
            <a:r>
              <a:rPr lang="en-US" sz="107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//</a:t>
            </a:r>
          </a:p>
          <a:p>
            <a:pPr algn="l">
              <a:lnSpc>
                <a:spcPts val="1511"/>
              </a:lnSpc>
              <a:spcBef>
                <a:spcPct val="0"/>
              </a:spcBef>
            </a:pPr>
            <a:r>
              <a:rPr lang="en-US" sz="107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DELIMITER ;</a:t>
            </a:r>
          </a:p>
          <a:p>
            <a:pPr algn="l">
              <a:lnSpc>
                <a:spcPts val="1511"/>
              </a:lnSpc>
              <a:spcBef>
                <a:spcPct val="0"/>
              </a:spcBef>
            </a:pPr>
            <a:endParaRPr lang="en-US" sz="1079">
              <a:solidFill>
                <a:srgbClr val="000000"/>
              </a:solidFill>
              <a:latin typeface="Now"/>
              <a:ea typeface="Now"/>
              <a:cs typeface="Now"/>
              <a:sym typeface="Now"/>
            </a:endParaRPr>
          </a:p>
          <a:p>
            <a:pPr algn="l">
              <a:lnSpc>
                <a:spcPts val="1511"/>
              </a:lnSpc>
              <a:spcBef>
                <a:spcPct val="0"/>
              </a:spcBef>
            </a:pPr>
            <a:endParaRPr lang="en-US" sz="1079">
              <a:solidFill>
                <a:srgbClr val="000000"/>
              </a:solidFill>
              <a:latin typeface="Now"/>
              <a:ea typeface="Now"/>
              <a:cs typeface="Now"/>
              <a:sym typeface="Now"/>
            </a:endParaRPr>
          </a:p>
          <a:p>
            <a:pPr algn="l">
              <a:lnSpc>
                <a:spcPts val="1511"/>
              </a:lnSpc>
              <a:spcBef>
                <a:spcPct val="0"/>
              </a:spcBef>
            </a:pPr>
            <a:r>
              <a:rPr lang="en-US" sz="1079" b="1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-- D. Check max participants before adding to event</a:t>
            </a:r>
          </a:p>
          <a:p>
            <a:pPr algn="l">
              <a:lnSpc>
                <a:spcPts val="1511"/>
              </a:lnSpc>
              <a:spcBef>
                <a:spcPct val="0"/>
              </a:spcBef>
            </a:pPr>
            <a:r>
              <a:rPr lang="en-US" sz="107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DROP TRIGGER IF EXISTS check_max_participants;</a:t>
            </a:r>
          </a:p>
          <a:p>
            <a:pPr algn="l">
              <a:lnSpc>
                <a:spcPts val="1511"/>
              </a:lnSpc>
              <a:spcBef>
                <a:spcPct val="0"/>
              </a:spcBef>
            </a:pPr>
            <a:r>
              <a:rPr lang="en-US" sz="107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DELIMITER //</a:t>
            </a:r>
          </a:p>
          <a:p>
            <a:pPr algn="l">
              <a:lnSpc>
                <a:spcPts val="1511"/>
              </a:lnSpc>
              <a:spcBef>
                <a:spcPct val="0"/>
              </a:spcBef>
            </a:pPr>
            <a:endParaRPr lang="en-US" sz="1079">
              <a:solidFill>
                <a:srgbClr val="000000"/>
              </a:solidFill>
              <a:latin typeface="Now"/>
              <a:ea typeface="Now"/>
              <a:cs typeface="Now"/>
              <a:sym typeface="Now"/>
            </a:endParaRPr>
          </a:p>
          <a:p>
            <a:pPr algn="l">
              <a:lnSpc>
                <a:spcPts val="1511"/>
              </a:lnSpc>
              <a:spcBef>
                <a:spcPct val="0"/>
              </a:spcBef>
            </a:pPr>
            <a:r>
              <a:rPr lang="en-US" sz="107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CREATE TRIGGER check_max_participants BEFORE INSERT ON ParticipateTo</a:t>
            </a:r>
          </a:p>
          <a:p>
            <a:pPr algn="l">
              <a:lnSpc>
                <a:spcPts val="1511"/>
              </a:lnSpc>
              <a:spcBef>
                <a:spcPct val="0"/>
              </a:spcBef>
            </a:pPr>
            <a:r>
              <a:rPr lang="en-US" sz="107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FOR EACH ROW</a:t>
            </a:r>
          </a:p>
          <a:p>
            <a:pPr algn="l">
              <a:lnSpc>
                <a:spcPts val="1511"/>
              </a:lnSpc>
              <a:spcBef>
                <a:spcPct val="0"/>
              </a:spcBef>
            </a:pPr>
            <a:r>
              <a:rPr lang="en-US" sz="107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BEGIN</a:t>
            </a:r>
          </a:p>
          <a:p>
            <a:pPr algn="l">
              <a:lnSpc>
                <a:spcPts val="1511"/>
              </a:lnSpc>
              <a:spcBef>
                <a:spcPct val="0"/>
              </a:spcBef>
            </a:pPr>
            <a:r>
              <a:rPr lang="en-US" sz="107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 DECLARE current_nb INT;</a:t>
            </a:r>
          </a:p>
          <a:p>
            <a:pPr algn="l">
              <a:lnSpc>
                <a:spcPts val="1511"/>
              </a:lnSpc>
              <a:spcBef>
                <a:spcPct val="0"/>
              </a:spcBef>
            </a:pPr>
            <a:r>
              <a:rPr lang="en-US" sz="107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 DECLARE max_nb INT;</a:t>
            </a:r>
          </a:p>
          <a:p>
            <a:pPr algn="l">
              <a:lnSpc>
                <a:spcPts val="1511"/>
              </a:lnSpc>
              <a:spcBef>
                <a:spcPct val="0"/>
              </a:spcBef>
            </a:pPr>
            <a:r>
              <a:rPr lang="en-US" sz="107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 SELECT nb_participant, max_participants INTO current_nb, max_nb</a:t>
            </a:r>
          </a:p>
          <a:p>
            <a:pPr algn="l">
              <a:lnSpc>
                <a:spcPts val="1511"/>
              </a:lnSpc>
              <a:spcBef>
                <a:spcPct val="0"/>
              </a:spcBef>
            </a:pPr>
            <a:r>
              <a:rPr lang="en-US" sz="107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 FROM EVENTS WHERE event_id = NEW.event_id;</a:t>
            </a:r>
          </a:p>
          <a:p>
            <a:pPr algn="l">
              <a:lnSpc>
                <a:spcPts val="1511"/>
              </a:lnSpc>
              <a:spcBef>
                <a:spcPct val="0"/>
              </a:spcBef>
            </a:pPr>
            <a:endParaRPr lang="en-US" sz="1079">
              <a:solidFill>
                <a:srgbClr val="000000"/>
              </a:solidFill>
              <a:latin typeface="Now"/>
              <a:ea typeface="Now"/>
              <a:cs typeface="Now"/>
              <a:sym typeface="Now"/>
            </a:endParaRPr>
          </a:p>
          <a:p>
            <a:pPr algn="l">
              <a:lnSpc>
                <a:spcPts val="1511"/>
              </a:lnSpc>
              <a:spcBef>
                <a:spcPct val="0"/>
              </a:spcBef>
            </a:pPr>
            <a:r>
              <a:rPr lang="en-US" sz="107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 IF current_nb &gt;= max_nb THEN</a:t>
            </a:r>
          </a:p>
          <a:p>
            <a:pPr algn="l">
              <a:lnSpc>
                <a:spcPts val="1511"/>
              </a:lnSpc>
              <a:spcBef>
                <a:spcPct val="0"/>
              </a:spcBef>
            </a:pPr>
            <a:r>
              <a:rPr lang="en-US" sz="107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 SIGNAL SQLSTATE '45000' SET MESSAGE_TEXT = 'Max participants reached for this event';</a:t>
            </a:r>
          </a:p>
          <a:p>
            <a:pPr algn="l">
              <a:lnSpc>
                <a:spcPts val="1511"/>
              </a:lnSpc>
              <a:spcBef>
                <a:spcPct val="0"/>
              </a:spcBef>
            </a:pPr>
            <a:r>
              <a:rPr lang="en-US" sz="107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 END IF;</a:t>
            </a:r>
          </a:p>
          <a:p>
            <a:pPr algn="l">
              <a:lnSpc>
                <a:spcPts val="1511"/>
              </a:lnSpc>
              <a:spcBef>
                <a:spcPct val="0"/>
              </a:spcBef>
            </a:pPr>
            <a:r>
              <a:rPr lang="en-US" sz="107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END;</a:t>
            </a:r>
          </a:p>
          <a:p>
            <a:pPr algn="l">
              <a:lnSpc>
                <a:spcPts val="1511"/>
              </a:lnSpc>
              <a:spcBef>
                <a:spcPct val="0"/>
              </a:spcBef>
            </a:pPr>
            <a:r>
              <a:rPr lang="en-US" sz="107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//</a:t>
            </a:r>
          </a:p>
          <a:p>
            <a:pPr algn="l">
              <a:lnSpc>
                <a:spcPts val="1511"/>
              </a:lnSpc>
              <a:spcBef>
                <a:spcPct val="0"/>
              </a:spcBef>
            </a:pPr>
            <a:r>
              <a:rPr lang="en-US" sz="107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DELIMITER ;</a:t>
            </a:r>
          </a:p>
          <a:p>
            <a:pPr algn="l">
              <a:lnSpc>
                <a:spcPts val="1511"/>
              </a:lnSpc>
              <a:spcBef>
                <a:spcPct val="0"/>
              </a:spcBef>
            </a:pPr>
            <a:endParaRPr lang="en-US" sz="1079">
              <a:solidFill>
                <a:srgbClr val="000000"/>
              </a:solidFill>
              <a:latin typeface="Now"/>
              <a:ea typeface="Now"/>
              <a:cs typeface="Now"/>
              <a:sym typeface="Now"/>
            </a:endParaRPr>
          </a:p>
        </p:txBody>
      </p:sp>
      <p:sp>
        <p:nvSpPr>
          <p:cNvPr id="6" name="Freeform 6"/>
          <p:cNvSpPr/>
          <p:nvPr/>
        </p:nvSpPr>
        <p:spPr>
          <a:xfrm rot="-2898160">
            <a:off x="11855726" y="5671770"/>
            <a:ext cx="5120602" cy="5120602"/>
          </a:xfrm>
          <a:custGeom>
            <a:avLst/>
            <a:gdLst/>
            <a:ahLst/>
            <a:cxnLst/>
            <a:rect l="l" t="t" r="r" b="b"/>
            <a:pathLst>
              <a:path w="5120602" h="5120602">
                <a:moveTo>
                  <a:pt x="0" y="0"/>
                </a:moveTo>
                <a:lnTo>
                  <a:pt x="5120601" y="0"/>
                </a:lnTo>
                <a:lnTo>
                  <a:pt x="5120601" y="5120602"/>
                </a:lnTo>
                <a:lnTo>
                  <a:pt x="0" y="51206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3528283" y="528002"/>
            <a:ext cx="11231433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Advanced featers - Triggers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26563" y="2410624"/>
            <a:ext cx="5053608" cy="6087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8"/>
              </a:lnSpc>
              <a:spcBef>
                <a:spcPct val="0"/>
              </a:spcBef>
            </a:pPr>
            <a:r>
              <a:rPr lang="en-US" sz="1098" b="1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-- A. Update average_rating when new rating added</a:t>
            </a:r>
          </a:p>
          <a:p>
            <a:pPr algn="l">
              <a:lnSpc>
                <a:spcPts val="1538"/>
              </a:lnSpc>
              <a:spcBef>
                <a:spcPct val="0"/>
              </a:spcBef>
            </a:pPr>
            <a:r>
              <a:rPr lang="en-US" sz="1098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DROP TRIGGER IF EXISTS update_rating_avg;</a:t>
            </a:r>
          </a:p>
          <a:p>
            <a:pPr algn="l">
              <a:lnSpc>
                <a:spcPts val="1538"/>
              </a:lnSpc>
              <a:spcBef>
                <a:spcPct val="0"/>
              </a:spcBef>
            </a:pPr>
            <a:r>
              <a:rPr lang="en-US" sz="1098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DELIMITER //</a:t>
            </a:r>
          </a:p>
          <a:p>
            <a:pPr algn="l">
              <a:lnSpc>
                <a:spcPts val="1538"/>
              </a:lnSpc>
              <a:spcBef>
                <a:spcPct val="0"/>
              </a:spcBef>
            </a:pPr>
            <a:endParaRPr lang="en-US" sz="1098">
              <a:solidFill>
                <a:srgbClr val="000000"/>
              </a:solidFill>
              <a:latin typeface="Now"/>
              <a:ea typeface="Now"/>
              <a:cs typeface="Now"/>
              <a:sym typeface="Now"/>
            </a:endParaRPr>
          </a:p>
          <a:p>
            <a:pPr algn="l">
              <a:lnSpc>
                <a:spcPts val="1538"/>
              </a:lnSpc>
              <a:spcBef>
                <a:spcPct val="0"/>
              </a:spcBef>
            </a:pPr>
            <a:r>
              <a:rPr lang="en-US" sz="1098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CREATE TRIGGER update_rating_avg AFTER INSERT ON Rating</a:t>
            </a:r>
          </a:p>
          <a:p>
            <a:pPr algn="l">
              <a:lnSpc>
                <a:spcPts val="1538"/>
              </a:lnSpc>
              <a:spcBef>
                <a:spcPct val="0"/>
              </a:spcBef>
            </a:pPr>
            <a:r>
              <a:rPr lang="en-US" sz="1098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FOR EACH ROW</a:t>
            </a:r>
          </a:p>
          <a:p>
            <a:pPr algn="l">
              <a:lnSpc>
                <a:spcPts val="1538"/>
              </a:lnSpc>
              <a:spcBef>
                <a:spcPct val="0"/>
              </a:spcBef>
            </a:pPr>
            <a:r>
              <a:rPr lang="en-US" sz="1098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BEGIN</a:t>
            </a:r>
          </a:p>
          <a:p>
            <a:pPr algn="l">
              <a:lnSpc>
                <a:spcPts val="1538"/>
              </a:lnSpc>
              <a:spcBef>
                <a:spcPct val="0"/>
              </a:spcBef>
            </a:pPr>
            <a:r>
              <a:rPr lang="en-US" sz="1098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 UPDATE BOARD_GAMES</a:t>
            </a:r>
          </a:p>
          <a:p>
            <a:pPr algn="l">
              <a:lnSpc>
                <a:spcPts val="1538"/>
              </a:lnSpc>
              <a:spcBef>
                <a:spcPct val="0"/>
              </a:spcBef>
            </a:pPr>
            <a:r>
              <a:rPr lang="en-US" sz="1098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 SET average_rating = (</a:t>
            </a:r>
          </a:p>
          <a:p>
            <a:pPr algn="l">
              <a:lnSpc>
                <a:spcPts val="1538"/>
              </a:lnSpc>
              <a:spcBef>
                <a:spcPct val="0"/>
              </a:spcBef>
            </a:pPr>
            <a:r>
              <a:rPr lang="en-US" sz="1098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 SELECT AVG(Stars)</a:t>
            </a:r>
          </a:p>
          <a:p>
            <a:pPr algn="l">
              <a:lnSpc>
                <a:spcPts val="1538"/>
              </a:lnSpc>
              <a:spcBef>
                <a:spcPct val="0"/>
              </a:spcBef>
            </a:pPr>
            <a:r>
              <a:rPr lang="en-US" sz="1098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 FROM Rating</a:t>
            </a:r>
          </a:p>
          <a:p>
            <a:pPr algn="l">
              <a:lnSpc>
                <a:spcPts val="1538"/>
              </a:lnSpc>
              <a:spcBef>
                <a:spcPct val="0"/>
              </a:spcBef>
            </a:pPr>
            <a:r>
              <a:rPr lang="en-US" sz="1098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 WHERE game_id = NEW.game_id</a:t>
            </a:r>
          </a:p>
          <a:p>
            <a:pPr algn="l">
              <a:lnSpc>
                <a:spcPts val="1538"/>
              </a:lnSpc>
              <a:spcBef>
                <a:spcPct val="0"/>
              </a:spcBef>
            </a:pPr>
            <a:r>
              <a:rPr lang="en-US" sz="1098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 )</a:t>
            </a:r>
          </a:p>
          <a:p>
            <a:pPr algn="l">
              <a:lnSpc>
                <a:spcPts val="1538"/>
              </a:lnSpc>
              <a:spcBef>
                <a:spcPct val="0"/>
              </a:spcBef>
            </a:pPr>
            <a:r>
              <a:rPr lang="en-US" sz="1098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 WHERE game_id = NEW.game_id;</a:t>
            </a:r>
          </a:p>
          <a:p>
            <a:pPr algn="l">
              <a:lnSpc>
                <a:spcPts val="1538"/>
              </a:lnSpc>
              <a:spcBef>
                <a:spcPct val="0"/>
              </a:spcBef>
            </a:pPr>
            <a:r>
              <a:rPr lang="en-US" sz="1098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END;</a:t>
            </a:r>
          </a:p>
          <a:p>
            <a:pPr algn="l">
              <a:lnSpc>
                <a:spcPts val="1538"/>
              </a:lnSpc>
              <a:spcBef>
                <a:spcPct val="0"/>
              </a:spcBef>
            </a:pPr>
            <a:r>
              <a:rPr lang="en-US" sz="1098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//</a:t>
            </a:r>
          </a:p>
          <a:p>
            <a:pPr algn="l">
              <a:lnSpc>
                <a:spcPts val="1538"/>
              </a:lnSpc>
              <a:spcBef>
                <a:spcPct val="0"/>
              </a:spcBef>
            </a:pPr>
            <a:r>
              <a:rPr lang="en-US" sz="1098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DELIMITER ;</a:t>
            </a:r>
          </a:p>
          <a:p>
            <a:pPr algn="l">
              <a:lnSpc>
                <a:spcPts val="1538"/>
              </a:lnSpc>
              <a:spcBef>
                <a:spcPct val="0"/>
              </a:spcBef>
            </a:pPr>
            <a:endParaRPr lang="en-US" sz="1098">
              <a:solidFill>
                <a:srgbClr val="000000"/>
              </a:solidFill>
              <a:latin typeface="Now"/>
              <a:ea typeface="Now"/>
              <a:cs typeface="Now"/>
              <a:sym typeface="Now"/>
            </a:endParaRPr>
          </a:p>
          <a:p>
            <a:pPr algn="l">
              <a:lnSpc>
                <a:spcPts val="1538"/>
              </a:lnSpc>
              <a:spcBef>
                <a:spcPct val="0"/>
              </a:spcBef>
            </a:pPr>
            <a:endParaRPr lang="en-US" sz="1098">
              <a:solidFill>
                <a:srgbClr val="000000"/>
              </a:solidFill>
              <a:latin typeface="Now"/>
              <a:ea typeface="Now"/>
              <a:cs typeface="Now"/>
              <a:sym typeface="Now"/>
            </a:endParaRPr>
          </a:p>
          <a:p>
            <a:pPr algn="l">
              <a:lnSpc>
                <a:spcPts val="1538"/>
              </a:lnSpc>
              <a:spcBef>
                <a:spcPct val="0"/>
              </a:spcBef>
            </a:pPr>
            <a:r>
              <a:rPr lang="en-US" sz="1098" b="1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-- B. Update nb_participant when someone joins event</a:t>
            </a:r>
          </a:p>
          <a:p>
            <a:pPr algn="l">
              <a:lnSpc>
                <a:spcPts val="1538"/>
              </a:lnSpc>
              <a:spcBef>
                <a:spcPct val="0"/>
              </a:spcBef>
            </a:pPr>
            <a:r>
              <a:rPr lang="en-US" sz="1098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DROP TRIGGER IF EXISTS update_nb_participant;</a:t>
            </a:r>
          </a:p>
          <a:p>
            <a:pPr algn="l">
              <a:lnSpc>
                <a:spcPts val="1538"/>
              </a:lnSpc>
              <a:spcBef>
                <a:spcPct val="0"/>
              </a:spcBef>
            </a:pPr>
            <a:r>
              <a:rPr lang="en-US" sz="1098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DELIMITER //</a:t>
            </a:r>
          </a:p>
          <a:p>
            <a:pPr algn="l">
              <a:lnSpc>
                <a:spcPts val="1538"/>
              </a:lnSpc>
              <a:spcBef>
                <a:spcPct val="0"/>
              </a:spcBef>
            </a:pPr>
            <a:endParaRPr lang="en-US" sz="1098">
              <a:solidFill>
                <a:srgbClr val="000000"/>
              </a:solidFill>
              <a:latin typeface="Now"/>
              <a:ea typeface="Now"/>
              <a:cs typeface="Now"/>
              <a:sym typeface="Now"/>
            </a:endParaRPr>
          </a:p>
          <a:p>
            <a:pPr algn="l">
              <a:lnSpc>
                <a:spcPts val="1538"/>
              </a:lnSpc>
              <a:spcBef>
                <a:spcPct val="0"/>
              </a:spcBef>
            </a:pPr>
            <a:r>
              <a:rPr lang="en-US" sz="1098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CREATE TRIGGER update_nb_participant AFTER INSERT ON ParticipateTo</a:t>
            </a:r>
          </a:p>
          <a:p>
            <a:pPr algn="l">
              <a:lnSpc>
                <a:spcPts val="1538"/>
              </a:lnSpc>
              <a:spcBef>
                <a:spcPct val="0"/>
              </a:spcBef>
            </a:pPr>
            <a:r>
              <a:rPr lang="en-US" sz="1098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FOR EACH ROW</a:t>
            </a:r>
          </a:p>
          <a:p>
            <a:pPr algn="l">
              <a:lnSpc>
                <a:spcPts val="1538"/>
              </a:lnSpc>
              <a:spcBef>
                <a:spcPct val="0"/>
              </a:spcBef>
            </a:pPr>
            <a:r>
              <a:rPr lang="en-US" sz="1098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BEGIN</a:t>
            </a:r>
          </a:p>
          <a:p>
            <a:pPr algn="l">
              <a:lnSpc>
                <a:spcPts val="1538"/>
              </a:lnSpc>
              <a:spcBef>
                <a:spcPct val="0"/>
              </a:spcBef>
            </a:pPr>
            <a:r>
              <a:rPr lang="en-US" sz="1098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 UPDATE EVENTS</a:t>
            </a:r>
          </a:p>
          <a:p>
            <a:pPr algn="l">
              <a:lnSpc>
                <a:spcPts val="1538"/>
              </a:lnSpc>
              <a:spcBef>
                <a:spcPct val="0"/>
              </a:spcBef>
            </a:pPr>
            <a:r>
              <a:rPr lang="en-US" sz="1098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 SET nb_participant = nb_participant + 1</a:t>
            </a:r>
          </a:p>
          <a:p>
            <a:pPr algn="l">
              <a:lnSpc>
                <a:spcPts val="1538"/>
              </a:lnSpc>
              <a:spcBef>
                <a:spcPct val="0"/>
              </a:spcBef>
            </a:pPr>
            <a:r>
              <a:rPr lang="en-US" sz="1098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 WHERE event_id = NEW.event_id;</a:t>
            </a:r>
          </a:p>
          <a:p>
            <a:pPr algn="l">
              <a:lnSpc>
                <a:spcPts val="1538"/>
              </a:lnSpc>
              <a:spcBef>
                <a:spcPct val="0"/>
              </a:spcBef>
            </a:pPr>
            <a:r>
              <a:rPr lang="en-US" sz="1098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END;</a:t>
            </a:r>
          </a:p>
          <a:p>
            <a:pPr algn="l">
              <a:lnSpc>
                <a:spcPts val="1538"/>
              </a:lnSpc>
              <a:spcBef>
                <a:spcPct val="0"/>
              </a:spcBef>
            </a:pPr>
            <a:r>
              <a:rPr lang="en-US" sz="1098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//</a:t>
            </a:r>
          </a:p>
          <a:p>
            <a:pPr algn="l">
              <a:lnSpc>
                <a:spcPts val="1538"/>
              </a:lnSpc>
              <a:spcBef>
                <a:spcPct val="0"/>
              </a:spcBef>
            </a:pPr>
            <a:r>
              <a:rPr lang="en-US" sz="1098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DELIMITER 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305487" y="2401099"/>
            <a:ext cx="5612758" cy="3811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1"/>
              </a:lnSpc>
              <a:spcBef>
                <a:spcPct val="0"/>
              </a:spcBef>
            </a:pPr>
            <a:r>
              <a:rPr lang="en-US" sz="1079" b="1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-- E. Check venue capacity not exceeded by event</a:t>
            </a:r>
          </a:p>
          <a:p>
            <a:pPr algn="l">
              <a:lnSpc>
                <a:spcPts val="1511"/>
              </a:lnSpc>
              <a:spcBef>
                <a:spcPct val="0"/>
              </a:spcBef>
            </a:pPr>
            <a:r>
              <a:rPr lang="en-US" sz="107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DROP TRIGGER IF EXISTS check_venue_capacity;</a:t>
            </a:r>
          </a:p>
          <a:p>
            <a:pPr algn="l">
              <a:lnSpc>
                <a:spcPts val="1511"/>
              </a:lnSpc>
              <a:spcBef>
                <a:spcPct val="0"/>
              </a:spcBef>
            </a:pPr>
            <a:r>
              <a:rPr lang="en-US" sz="107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DELIMITER //</a:t>
            </a:r>
          </a:p>
          <a:p>
            <a:pPr algn="l">
              <a:lnSpc>
                <a:spcPts val="1511"/>
              </a:lnSpc>
              <a:spcBef>
                <a:spcPct val="0"/>
              </a:spcBef>
            </a:pPr>
            <a:endParaRPr lang="en-US" sz="1079">
              <a:solidFill>
                <a:srgbClr val="000000"/>
              </a:solidFill>
              <a:latin typeface="Now"/>
              <a:ea typeface="Now"/>
              <a:cs typeface="Now"/>
              <a:sym typeface="Now"/>
            </a:endParaRPr>
          </a:p>
          <a:p>
            <a:pPr algn="l">
              <a:lnSpc>
                <a:spcPts val="1511"/>
              </a:lnSpc>
              <a:spcBef>
                <a:spcPct val="0"/>
              </a:spcBef>
            </a:pPr>
            <a:r>
              <a:rPr lang="en-US" sz="107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CREATE TRIGGER check_venue_capacity BEFORE INSERT ON EVENTS</a:t>
            </a:r>
          </a:p>
          <a:p>
            <a:pPr algn="l">
              <a:lnSpc>
                <a:spcPts val="1511"/>
              </a:lnSpc>
              <a:spcBef>
                <a:spcPct val="0"/>
              </a:spcBef>
            </a:pPr>
            <a:r>
              <a:rPr lang="en-US" sz="107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FOR EACH ROW</a:t>
            </a:r>
          </a:p>
          <a:p>
            <a:pPr algn="l">
              <a:lnSpc>
                <a:spcPts val="1511"/>
              </a:lnSpc>
              <a:spcBef>
                <a:spcPct val="0"/>
              </a:spcBef>
            </a:pPr>
            <a:r>
              <a:rPr lang="en-US" sz="107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BEGIN</a:t>
            </a:r>
          </a:p>
          <a:p>
            <a:pPr algn="l">
              <a:lnSpc>
                <a:spcPts val="1511"/>
              </a:lnSpc>
              <a:spcBef>
                <a:spcPct val="0"/>
              </a:spcBef>
            </a:pPr>
            <a:r>
              <a:rPr lang="en-US" sz="107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 DECLARE max_venue INT;</a:t>
            </a:r>
          </a:p>
          <a:p>
            <a:pPr algn="l">
              <a:lnSpc>
                <a:spcPts val="1511"/>
              </a:lnSpc>
              <a:spcBef>
                <a:spcPct val="0"/>
              </a:spcBef>
            </a:pPr>
            <a:r>
              <a:rPr lang="en-US" sz="107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 SELECT max_capacity INTO max_venue</a:t>
            </a:r>
          </a:p>
          <a:p>
            <a:pPr algn="l">
              <a:lnSpc>
                <a:spcPts val="1511"/>
              </a:lnSpc>
              <a:spcBef>
                <a:spcPct val="0"/>
              </a:spcBef>
            </a:pPr>
            <a:r>
              <a:rPr lang="en-US" sz="107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 FROM VENUE WHERE venue_id = NEW.venue_id;</a:t>
            </a:r>
          </a:p>
          <a:p>
            <a:pPr algn="l">
              <a:lnSpc>
                <a:spcPts val="1511"/>
              </a:lnSpc>
              <a:spcBef>
                <a:spcPct val="0"/>
              </a:spcBef>
            </a:pPr>
            <a:endParaRPr lang="en-US" sz="1079">
              <a:solidFill>
                <a:srgbClr val="000000"/>
              </a:solidFill>
              <a:latin typeface="Now"/>
              <a:ea typeface="Now"/>
              <a:cs typeface="Now"/>
              <a:sym typeface="Now"/>
            </a:endParaRPr>
          </a:p>
          <a:p>
            <a:pPr algn="l">
              <a:lnSpc>
                <a:spcPts val="1511"/>
              </a:lnSpc>
              <a:spcBef>
                <a:spcPct val="0"/>
              </a:spcBef>
            </a:pPr>
            <a:r>
              <a:rPr lang="en-US" sz="107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 IF NEW.max_participants &gt; max_venue THEN</a:t>
            </a:r>
          </a:p>
          <a:p>
            <a:pPr algn="l">
              <a:lnSpc>
                <a:spcPts val="1511"/>
              </a:lnSpc>
              <a:spcBef>
                <a:spcPct val="0"/>
              </a:spcBef>
            </a:pPr>
            <a:r>
              <a:rPr lang="en-US" sz="107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 SIGNAL SQLSTATE '45000' SET MESSAGE_TEXT = 'Max participants exceeds venue capacity';</a:t>
            </a:r>
          </a:p>
          <a:p>
            <a:pPr algn="l">
              <a:lnSpc>
                <a:spcPts val="1511"/>
              </a:lnSpc>
              <a:spcBef>
                <a:spcPct val="0"/>
              </a:spcBef>
            </a:pPr>
            <a:r>
              <a:rPr lang="en-US" sz="107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 END IF;</a:t>
            </a:r>
          </a:p>
          <a:p>
            <a:pPr algn="l">
              <a:lnSpc>
                <a:spcPts val="1511"/>
              </a:lnSpc>
              <a:spcBef>
                <a:spcPct val="0"/>
              </a:spcBef>
            </a:pPr>
            <a:r>
              <a:rPr lang="en-US" sz="107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END;</a:t>
            </a:r>
          </a:p>
          <a:p>
            <a:pPr algn="l">
              <a:lnSpc>
                <a:spcPts val="1511"/>
              </a:lnSpc>
              <a:spcBef>
                <a:spcPct val="0"/>
              </a:spcBef>
            </a:pPr>
            <a:r>
              <a:rPr lang="en-US" sz="107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//</a:t>
            </a:r>
          </a:p>
          <a:p>
            <a:pPr algn="l">
              <a:lnSpc>
                <a:spcPts val="1511"/>
              </a:lnSpc>
              <a:spcBef>
                <a:spcPct val="0"/>
              </a:spcBef>
            </a:pPr>
            <a:r>
              <a:rPr lang="en-US" sz="107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DELIMITER ;</a:t>
            </a:r>
          </a:p>
          <a:p>
            <a:pPr algn="l">
              <a:lnSpc>
                <a:spcPts val="1511"/>
              </a:lnSpc>
              <a:spcBef>
                <a:spcPct val="0"/>
              </a:spcBef>
            </a:pPr>
            <a:endParaRPr lang="en-US" sz="1079">
              <a:solidFill>
                <a:srgbClr val="000000"/>
              </a:solidFill>
              <a:latin typeface="Now"/>
              <a:ea typeface="Now"/>
              <a:cs typeface="Now"/>
              <a:sym typeface="Now"/>
            </a:endParaRPr>
          </a:p>
          <a:p>
            <a:pPr algn="l">
              <a:lnSpc>
                <a:spcPts val="1511"/>
              </a:lnSpc>
              <a:spcBef>
                <a:spcPct val="0"/>
              </a:spcBef>
            </a:pPr>
            <a:endParaRPr lang="en-US" sz="1079">
              <a:solidFill>
                <a:srgbClr val="000000"/>
              </a:solidFill>
              <a:latin typeface="Now"/>
              <a:ea typeface="Now"/>
              <a:cs typeface="Now"/>
              <a:sym typeface="No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487775" y="257175"/>
            <a:ext cx="1543050" cy="154305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35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92516" y="2080362"/>
            <a:ext cx="17438309" cy="6126275"/>
            <a:chOff x="0" y="0"/>
            <a:chExt cx="23251078" cy="8168367"/>
          </a:xfrm>
        </p:grpSpPr>
        <p:sp>
          <p:nvSpPr>
            <p:cNvPr id="6" name="TextBox 6"/>
            <p:cNvSpPr txBox="1"/>
            <p:nvPr/>
          </p:nvSpPr>
          <p:spPr>
            <a:xfrm>
              <a:off x="0" y="-19050"/>
              <a:ext cx="4413448" cy="57744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 b="1">
                  <a:solidFill>
                    <a:srgbClr val="000000"/>
                  </a:solidFill>
                  <a:latin typeface="Now Bold"/>
                  <a:ea typeface="Now Bold"/>
                  <a:cs typeface="Now Bold"/>
                  <a:sym typeface="Now Bold"/>
                </a:rPr>
                <a:t>-- A. Search for a game (by filters)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DROP PROCEDURE IF EXISTS SearchGame;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DELIMITER //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CREATE PROCEDURE SearchGame(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 IN y YEAR, IN g VARCHAR(50),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 IN minP INT, IN maxP INT,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 IN minT INT, IN maxT INT, IN age INT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)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BEGIN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 SELECT DISTINCT bg.*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 FROM BOARD_GAMES bg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 JOIN IsOfGenre ig ON bg.game_id = ig.game_id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 JOIN GENRES ge ON ig.genre_id = ge.genre_id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 WHERE (y IS NULL OR bg.year_published = y)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 AND (g IS NULL OR ge.name = g)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 AND bg.min_players &gt;= minP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 AND bg.max_players &lt;= maxP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 AND bg.min_playtime &gt;= minT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 AND bg.max_playtime &lt;= maxT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 AND bg.min_age &lt;= age;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END;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//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DELIMITER ;</a:t>
              </a:r>
            </a:p>
            <a:p>
              <a:pPr algn="ctr">
                <a:lnSpc>
                  <a:spcPts val="1481"/>
                </a:lnSpc>
                <a:spcBef>
                  <a:spcPct val="0"/>
                </a:spcBef>
              </a:pPr>
              <a:endParaRPr lang="en-US" sz="1058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367089" y="-19050"/>
              <a:ext cx="4557216" cy="77048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 b="1">
                  <a:solidFill>
                    <a:srgbClr val="000000"/>
                  </a:solidFill>
                  <a:latin typeface="Now Bold"/>
                  <a:ea typeface="Now Bold"/>
                  <a:cs typeface="Now Bold"/>
                  <a:sym typeface="Now Bold"/>
                </a:rPr>
                <a:t>-- B. Games in a user’s wishlist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DROP FUNCTION IF EXISTS GetWishlist;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DELIMITER //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CREATE FUNCTION GetWishlist(userID INT)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RETURNS TEXT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DETERMINISTIC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BEGIN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 DECLARE result TEXT DEFAULT '';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 SELECT GROUP_CONCAT(bg.name SEPARATOR ', ')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 INTO result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 FROM WishList wl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 JOIN BOARD_GAMES bg ON wl.game_id = bg.game_id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 WHERE wl.user_id = userID;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 RETURN result;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END;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//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DELIMITER ;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endParaRPr lang="en-US" sz="1058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endParaRP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endParaRPr lang="en-US" sz="1058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endParaRP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 b="1">
                  <a:solidFill>
                    <a:srgbClr val="000000"/>
                  </a:solidFill>
                  <a:latin typeface="Now Bold"/>
                  <a:ea typeface="Now Bold"/>
                  <a:cs typeface="Now Bold"/>
                  <a:sym typeface="Now Bold"/>
                </a:rPr>
                <a:t>-- C. Users for a given event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DROP PROCEDURE IF EXISTS GetEventUsers;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DELIMITER //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CREATE PROCEDURE GetEventUsers(IN eventID INT)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BEGIN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 SELECT u.username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 FROM Users u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 JOIN ParticipateTo pt ON pt.user_id = u.user_id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 WHERE pt.event_id = eventID;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END;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//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DELIMITER ;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876804" y="-19050"/>
              <a:ext cx="5560150" cy="57744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 b="1">
                  <a:solidFill>
                    <a:srgbClr val="000000"/>
                  </a:solidFill>
                  <a:latin typeface="Now Bold"/>
                  <a:ea typeface="Now Bold"/>
                  <a:cs typeface="Now Bold"/>
                  <a:sym typeface="Now Bold"/>
                </a:rPr>
                <a:t>-- D. Ratings for a game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DROP PROCEDURE IF EXISTS GetRatingsForGame;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DELIMITER //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CREATE PROCEDURE GetRatingsForGame(IN gameID INT)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BEGIN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 SELECT u.username, r.Stars, r.comment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 FROM Rating r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 JOIN Users u ON r.user_id = u.user_id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 WHERE r.game_id = gameID;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END;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//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DELIMITER ;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endParaRPr lang="en-US" sz="1058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endParaRP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endParaRPr lang="en-US" sz="1058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endParaRP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 b="1">
                  <a:solidFill>
                    <a:srgbClr val="000000"/>
                  </a:solidFill>
                  <a:latin typeface="Now Bold"/>
                  <a:ea typeface="Now Bold"/>
                  <a:cs typeface="Now Bold"/>
                  <a:sym typeface="Now Bold"/>
                </a:rPr>
                <a:t>-- E. Blocked/unblocked users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DROP PROCEDURE IF EXISTS GetUsersByBlockStatus;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DELIMITER //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CREATE PROCEDURE GetUsersByBlockStatus(IN blockStatus BOOLEAN)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BEGIN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 SELECT * FROM Users WHERE is_blocked = blockStatus;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END;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//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DELIMITER ;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389454" y="-19050"/>
              <a:ext cx="5861624" cy="81874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 b="1">
                  <a:solidFill>
                    <a:srgbClr val="000000"/>
                  </a:solidFill>
                  <a:latin typeface="Now Bold"/>
                  <a:ea typeface="Now Bold"/>
                  <a:cs typeface="Now Bold"/>
                  <a:sym typeface="Now Bold"/>
                </a:rPr>
                <a:t>-- F. Modify event info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DROP PROCEDURE IF EXISTS UpdateEvent;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DELIMITER //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CREATE PROCEDURE UpdateEvent(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 IN e_id INT, IN new_name VARCHAR(50), IN new_desc VARCHAR(255),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 IN new_max INT, IN new_time DATETIME, IN new_vid INT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)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BEGIN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 UPDATE EVENTS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 SET name = new_name,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 description = new_desc,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 max_participants = new_max,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 event_time = new_time,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 venue_id = new_vid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 WHERE event_id = e_id;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END;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//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DELIMITER ;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endParaRPr lang="en-US" sz="1058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endParaRP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 b="1">
                  <a:solidFill>
                    <a:srgbClr val="000000"/>
                  </a:solidFill>
                  <a:latin typeface="Now Bold"/>
                  <a:ea typeface="Now Bold"/>
                  <a:cs typeface="Now Bold"/>
                  <a:sym typeface="Now Bold"/>
                </a:rPr>
                <a:t>-- G. Games owned by a user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DROP PROCEDURE IF EXISTS GetOwnedGames;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DELIMITER //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CREATE PROCEDURE GetOwnedGames(IN userID INT)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BEGIN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 SELECT bg.name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 FROM OwnedGames og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 JOIN BOARD_GAMES bg ON og.game_id = bg.game_id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 WHERE og.user_id = userID;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END;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//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r>
                <a:rPr lang="en-US" sz="1058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DELIMITER ;</a:t>
              </a: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endParaRPr lang="en-US" sz="1058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endParaRPr>
            </a:p>
            <a:p>
              <a:pPr algn="l">
                <a:lnSpc>
                  <a:spcPts val="1481"/>
                </a:lnSpc>
                <a:spcBef>
                  <a:spcPct val="0"/>
                </a:spcBef>
              </a:pPr>
              <a:endParaRPr lang="en-US" sz="1058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endParaRPr>
            </a:p>
          </p:txBody>
        </p:sp>
      </p:grpSp>
      <p:sp>
        <p:nvSpPr>
          <p:cNvPr id="10" name="Freeform 10"/>
          <p:cNvSpPr/>
          <p:nvPr/>
        </p:nvSpPr>
        <p:spPr>
          <a:xfrm>
            <a:off x="224501" y="6237645"/>
            <a:ext cx="3937986" cy="3937986"/>
          </a:xfrm>
          <a:custGeom>
            <a:avLst/>
            <a:gdLst/>
            <a:ahLst/>
            <a:cxnLst/>
            <a:rect l="l" t="t" r="r" b="b"/>
            <a:pathLst>
              <a:path w="3937986" h="3937986">
                <a:moveTo>
                  <a:pt x="0" y="0"/>
                </a:moveTo>
                <a:lnTo>
                  <a:pt x="3937986" y="0"/>
                </a:lnTo>
                <a:lnTo>
                  <a:pt x="3937986" y="3937985"/>
                </a:lnTo>
                <a:lnTo>
                  <a:pt x="0" y="3937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5198494" y="7381502"/>
            <a:ext cx="3089506" cy="3089506"/>
          </a:xfrm>
          <a:custGeom>
            <a:avLst/>
            <a:gdLst/>
            <a:ahLst/>
            <a:cxnLst/>
            <a:rect l="l" t="t" r="r" b="b"/>
            <a:pathLst>
              <a:path w="3089506" h="3089506">
                <a:moveTo>
                  <a:pt x="0" y="0"/>
                </a:moveTo>
                <a:lnTo>
                  <a:pt x="3089506" y="0"/>
                </a:lnTo>
                <a:lnTo>
                  <a:pt x="3089506" y="3089506"/>
                </a:lnTo>
                <a:lnTo>
                  <a:pt x="0" y="30895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802572" y="528002"/>
            <a:ext cx="14682856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Advanced featers - Functions &amp; Procedures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487775" y="257175"/>
            <a:ext cx="1543050" cy="154305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3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443758" y="2277934"/>
            <a:ext cx="6943130" cy="5702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39"/>
              </a:lnSpc>
            </a:pPr>
            <a:r>
              <a:rPr lang="en-US" sz="1671" b="1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-- Rating an event and then updating its average rating</a:t>
            </a:r>
          </a:p>
          <a:p>
            <a:pPr algn="l">
              <a:lnSpc>
                <a:spcPts val="2339"/>
              </a:lnSpc>
              <a:spcBef>
                <a:spcPct val="0"/>
              </a:spcBef>
            </a:pPr>
            <a:r>
              <a:rPr lang="en-US" sz="1671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START TRANSACTION;</a:t>
            </a:r>
          </a:p>
          <a:p>
            <a:pPr algn="l">
              <a:lnSpc>
                <a:spcPts val="2339"/>
              </a:lnSpc>
              <a:spcBef>
                <a:spcPct val="0"/>
              </a:spcBef>
            </a:pPr>
            <a:endParaRPr lang="en-US" sz="1671">
              <a:solidFill>
                <a:srgbClr val="000000"/>
              </a:solidFill>
              <a:latin typeface="Now"/>
              <a:ea typeface="Now"/>
              <a:cs typeface="Now"/>
              <a:sym typeface="Now"/>
            </a:endParaRPr>
          </a:p>
          <a:p>
            <a:pPr algn="l">
              <a:lnSpc>
                <a:spcPts val="2339"/>
              </a:lnSpc>
              <a:spcBef>
                <a:spcPct val="0"/>
              </a:spcBef>
            </a:pPr>
            <a:r>
              <a:rPr lang="en-US" sz="1671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INSERT INTO Rating (user_id, game_id, Stars, comment)</a:t>
            </a:r>
          </a:p>
          <a:p>
            <a:pPr algn="l">
              <a:lnSpc>
                <a:spcPts val="2339"/>
              </a:lnSpc>
              <a:spcBef>
                <a:spcPct val="0"/>
              </a:spcBef>
            </a:pPr>
            <a:r>
              <a:rPr lang="en-US" sz="1671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VALUES ({user_id}, {game_id}, {stars}, {comment})</a:t>
            </a:r>
          </a:p>
          <a:p>
            <a:pPr algn="l">
              <a:lnSpc>
                <a:spcPts val="2339"/>
              </a:lnSpc>
              <a:spcBef>
                <a:spcPct val="0"/>
              </a:spcBef>
            </a:pPr>
            <a:r>
              <a:rPr lang="en-US" sz="1671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ON DUPLICATE KEY UPDATE </a:t>
            </a:r>
          </a:p>
          <a:p>
            <a:pPr algn="l">
              <a:lnSpc>
                <a:spcPts val="2339"/>
              </a:lnSpc>
              <a:spcBef>
                <a:spcPct val="0"/>
              </a:spcBef>
            </a:pPr>
            <a:r>
              <a:rPr lang="en-US" sz="1671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    Stars = VALUES(Stars), </a:t>
            </a:r>
          </a:p>
          <a:p>
            <a:pPr algn="l">
              <a:lnSpc>
                <a:spcPts val="2339"/>
              </a:lnSpc>
              <a:spcBef>
                <a:spcPct val="0"/>
              </a:spcBef>
            </a:pPr>
            <a:r>
              <a:rPr lang="en-US" sz="1671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    comment = VALUES(comment), </a:t>
            </a:r>
          </a:p>
          <a:p>
            <a:pPr algn="l">
              <a:lnSpc>
                <a:spcPts val="2339"/>
              </a:lnSpc>
              <a:spcBef>
                <a:spcPct val="0"/>
              </a:spcBef>
            </a:pPr>
            <a:endParaRPr lang="en-US" sz="1671">
              <a:solidFill>
                <a:srgbClr val="000000"/>
              </a:solidFill>
              <a:latin typeface="Now"/>
              <a:ea typeface="Now"/>
              <a:cs typeface="Now"/>
              <a:sym typeface="Now"/>
            </a:endParaRPr>
          </a:p>
          <a:p>
            <a:pPr algn="l">
              <a:lnSpc>
                <a:spcPts val="2339"/>
              </a:lnSpc>
              <a:spcBef>
                <a:spcPct val="0"/>
              </a:spcBef>
            </a:pPr>
            <a:r>
              <a:rPr lang="en-US" sz="1671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UPDATE Game</a:t>
            </a:r>
          </a:p>
          <a:p>
            <a:pPr algn="l">
              <a:lnSpc>
                <a:spcPts val="2339"/>
              </a:lnSpc>
              <a:spcBef>
                <a:spcPct val="0"/>
              </a:spcBef>
            </a:pPr>
            <a:r>
              <a:rPr lang="en-US" sz="1671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SET avg_rating = (</a:t>
            </a:r>
          </a:p>
          <a:p>
            <a:pPr algn="l">
              <a:lnSpc>
                <a:spcPts val="2339"/>
              </a:lnSpc>
              <a:spcBef>
                <a:spcPct val="0"/>
              </a:spcBef>
            </a:pPr>
            <a:r>
              <a:rPr lang="en-US" sz="1671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    SELECT ROUND(AVG(Stars), 2)</a:t>
            </a:r>
          </a:p>
          <a:p>
            <a:pPr algn="l">
              <a:lnSpc>
                <a:spcPts val="2339"/>
              </a:lnSpc>
              <a:spcBef>
                <a:spcPct val="0"/>
              </a:spcBef>
            </a:pPr>
            <a:r>
              <a:rPr lang="en-US" sz="1671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    FROM Rating</a:t>
            </a:r>
          </a:p>
          <a:p>
            <a:pPr algn="l">
              <a:lnSpc>
                <a:spcPts val="2339"/>
              </a:lnSpc>
              <a:spcBef>
                <a:spcPct val="0"/>
              </a:spcBef>
            </a:pPr>
            <a:r>
              <a:rPr lang="en-US" sz="1671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    WHERE game_id = {game_id}</a:t>
            </a:r>
          </a:p>
          <a:p>
            <a:pPr algn="l">
              <a:lnSpc>
                <a:spcPts val="2339"/>
              </a:lnSpc>
              <a:spcBef>
                <a:spcPct val="0"/>
              </a:spcBef>
            </a:pPr>
            <a:r>
              <a:rPr lang="en-US" sz="1671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)</a:t>
            </a:r>
          </a:p>
          <a:p>
            <a:pPr algn="l">
              <a:lnSpc>
                <a:spcPts val="2339"/>
              </a:lnSpc>
              <a:spcBef>
                <a:spcPct val="0"/>
              </a:spcBef>
            </a:pPr>
            <a:r>
              <a:rPr lang="en-US" sz="1671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WHERE game_id = {game_id};</a:t>
            </a:r>
          </a:p>
          <a:p>
            <a:pPr algn="l">
              <a:lnSpc>
                <a:spcPts val="2339"/>
              </a:lnSpc>
              <a:spcBef>
                <a:spcPct val="0"/>
              </a:spcBef>
            </a:pPr>
            <a:endParaRPr lang="en-US" sz="1671">
              <a:solidFill>
                <a:srgbClr val="000000"/>
              </a:solidFill>
              <a:latin typeface="Now"/>
              <a:ea typeface="Now"/>
              <a:cs typeface="Now"/>
              <a:sym typeface="Now"/>
            </a:endParaRPr>
          </a:p>
          <a:p>
            <a:pPr algn="l">
              <a:lnSpc>
                <a:spcPts val="2339"/>
              </a:lnSpc>
              <a:spcBef>
                <a:spcPct val="0"/>
              </a:spcBef>
            </a:pPr>
            <a:r>
              <a:rPr lang="en-US" sz="1671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COMMIT;</a:t>
            </a:r>
          </a:p>
          <a:p>
            <a:pPr algn="l">
              <a:lnSpc>
                <a:spcPts val="2339"/>
              </a:lnSpc>
              <a:spcBef>
                <a:spcPct val="0"/>
              </a:spcBef>
            </a:pPr>
            <a:endParaRPr lang="en-US" sz="1671">
              <a:solidFill>
                <a:srgbClr val="000000"/>
              </a:solidFill>
              <a:latin typeface="Now"/>
              <a:ea typeface="Now"/>
              <a:cs typeface="Now"/>
              <a:sym typeface="Now"/>
            </a:endParaRPr>
          </a:p>
          <a:p>
            <a:pPr algn="l">
              <a:lnSpc>
                <a:spcPts val="2339"/>
              </a:lnSpc>
              <a:spcBef>
                <a:spcPct val="0"/>
              </a:spcBef>
            </a:pPr>
            <a:endParaRPr lang="en-US" sz="1671">
              <a:solidFill>
                <a:srgbClr val="000000"/>
              </a:solidFill>
              <a:latin typeface="Now"/>
              <a:ea typeface="Now"/>
              <a:cs typeface="Now"/>
              <a:sym typeface="Now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5198494" y="7381502"/>
            <a:ext cx="3089506" cy="3089506"/>
          </a:xfrm>
          <a:custGeom>
            <a:avLst/>
            <a:gdLst/>
            <a:ahLst/>
            <a:cxnLst/>
            <a:rect l="l" t="t" r="r" b="b"/>
            <a:pathLst>
              <a:path w="3089506" h="3089506">
                <a:moveTo>
                  <a:pt x="0" y="0"/>
                </a:moveTo>
                <a:lnTo>
                  <a:pt x="3089506" y="0"/>
                </a:lnTo>
                <a:lnTo>
                  <a:pt x="3089506" y="3089506"/>
                </a:lnTo>
                <a:lnTo>
                  <a:pt x="0" y="30895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265335" y="6590743"/>
            <a:ext cx="3673294" cy="3673294"/>
          </a:xfrm>
          <a:custGeom>
            <a:avLst/>
            <a:gdLst/>
            <a:ahLst/>
            <a:cxnLst/>
            <a:rect l="l" t="t" r="r" b="b"/>
            <a:pathLst>
              <a:path w="3673294" h="3673294">
                <a:moveTo>
                  <a:pt x="0" y="0"/>
                </a:moveTo>
                <a:lnTo>
                  <a:pt x="3673294" y="0"/>
                </a:lnTo>
                <a:lnTo>
                  <a:pt x="3673294" y="3673295"/>
                </a:lnTo>
                <a:lnTo>
                  <a:pt x="0" y="36732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802572" y="528002"/>
            <a:ext cx="14682856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Advanced featers - Transaction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79739" y="528002"/>
            <a:ext cx="14928522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Population of the Database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487775" y="257175"/>
            <a:ext cx="1543050" cy="154305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5B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35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679739" y="6486546"/>
            <a:ext cx="5229447" cy="3082122"/>
          </a:xfrm>
          <a:custGeom>
            <a:avLst/>
            <a:gdLst/>
            <a:ahLst/>
            <a:cxnLst/>
            <a:rect l="l" t="t" r="r" b="b"/>
            <a:pathLst>
              <a:path w="5229447" h="3082122">
                <a:moveTo>
                  <a:pt x="0" y="0"/>
                </a:moveTo>
                <a:lnTo>
                  <a:pt x="5229447" y="0"/>
                </a:lnTo>
                <a:lnTo>
                  <a:pt x="5229447" y="3082122"/>
                </a:lnTo>
                <a:lnTo>
                  <a:pt x="0" y="30821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679739" y="2852080"/>
            <a:ext cx="5229447" cy="3634466"/>
          </a:xfrm>
          <a:custGeom>
            <a:avLst/>
            <a:gdLst/>
            <a:ahLst/>
            <a:cxnLst/>
            <a:rect l="l" t="t" r="r" b="b"/>
            <a:pathLst>
              <a:path w="5229447" h="3634466">
                <a:moveTo>
                  <a:pt x="0" y="0"/>
                </a:moveTo>
                <a:lnTo>
                  <a:pt x="5229447" y="0"/>
                </a:lnTo>
                <a:lnTo>
                  <a:pt x="5229447" y="3634466"/>
                </a:lnTo>
                <a:lnTo>
                  <a:pt x="0" y="36344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0035862" y="3439537"/>
            <a:ext cx="6025964" cy="3705968"/>
          </a:xfrm>
          <a:custGeom>
            <a:avLst/>
            <a:gdLst/>
            <a:ahLst/>
            <a:cxnLst/>
            <a:rect l="l" t="t" r="r" b="b"/>
            <a:pathLst>
              <a:path w="6025964" h="3705968">
                <a:moveTo>
                  <a:pt x="0" y="0"/>
                </a:moveTo>
                <a:lnTo>
                  <a:pt x="6025964" y="0"/>
                </a:lnTo>
                <a:lnTo>
                  <a:pt x="6025964" y="3705968"/>
                </a:lnTo>
                <a:lnTo>
                  <a:pt x="0" y="37059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0290072" y="2208749"/>
            <a:ext cx="6318189" cy="402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59"/>
              </a:lnSpc>
              <a:spcBef>
                <a:spcPct val="0"/>
              </a:spcBef>
            </a:pPr>
            <a:r>
              <a:rPr lang="en-US" sz="2327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Create data for the rest with chatgpt prompt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3951" y="2208749"/>
            <a:ext cx="7221023" cy="402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59"/>
              </a:lnSpc>
              <a:spcBef>
                <a:spcPct val="0"/>
              </a:spcBef>
            </a:pPr>
            <a:r>
              <a:rPr lang="en-US" sz="2327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Fetching Data from the csv files with a python script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79739" y="528002"/>
            <a:ext cx="14928522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The website backend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487775" y="257175"/>
            <a:ext cx="1543050" cy="154305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5B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35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2904433" y="1800225"/>
            <a:ext cx="2668388" cy="8038798"/>
          </a:xfrm>
          <a:custGeom>
            <a:avLst/>
            <a:gdLst/>
            <a:ahLst/>
            <a:cxnLst/>
            <a:rect l="l" t="t" r="r" b="b"/>
            <a:pathLst>
              <a:path w="2668388" h="8038798">
                <a:moveTo>
                  <a:pt x="0" y="0"/>
                </a:moveTo>
                <a:lnTo>
                  <a:pt x="2668388" y="0"/>
                </a:lnTo>
                <a:lnTo>
                  <a:pt x="2668388" y="8038798"/>
                </a:lnTo>
                <a:lnTo>
                  <a:pt x="0" y="80387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6188206" y="1800225"/>
            <a:ext cx="5911589" cy="3841032"/>
          </a:xfrm>
          <a:custGeom>
            <a:avLst/>
            <a:gdLst/>
            <a:ahLst/>
            <a:cxnLst/>
            <a:rect l="l" t="t" r="r" b="b"/>
            <a:pathLst>
              <a:path w="5911589" h="3841032">
                <a:moveTo>
                  <a:pt x="0" y="0"/>
                </a:moveTo>
                <a:lnTo>
                  <a:pt x="5911588" y="0"/>
                </a:lnTo>
                <a:lnTo>
                  <a:pt x="5911588" y="3841032"/>
                </a:lnTo>
                <a:lnTo>
                  <a:pt x="0" y="38410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6188206" y="5865470"/>
            <a:ext cx="5717501" cy="3973553"/>
          </a:xfrm>
          <a:custGeom>
            <a:avLst/>
            <a:gdLst/>
            <a:ahLst/>
            <a:cxnLst/>
            <a:rect l="l" t="t" r="r" b="b"/>
            <a:pathLst>
              <a:path w="5717501" h="3973553">
                <a:moveTo>
                  <a:pt x="0" y="0"/>
                </a:moveTo>
                <a:lnTo>
                  <a:pt x="5717500" y="0"/>
                </a:lnTo>
                <a:lnTo>
                  <a:pt x="5717500" y="3973553"/>
                </a:lnTo>
                <a:lnTo>
                  <a:pt x="0" y="39735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6010" t="-20485" r="-43650" b="-2492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2292075" y="3720741"/>
            <a:ext cx="5518823" cy="3554122"/>
          </a:xfrm>
          <a:custGeom>
            <a:avLst/>
            <a:gdLst/>
            <a:ahLst/>
            <a:cxnLst/>
            <a:rect l="l" t="t" r="r" b="b"/>
            <a:pathLst>
              <a:path w="5518823" h="3554122">
                <a:moveTo>
                  <a:pt x="0" y="0"/>
                </a:moveTo>
                <a:lnTo>
                  <a:pt x="5518823" y="0"/>
                </a:lnTo>
                <a:lnTo>
                  <a:pt x="5518823" y="3554122"/>
                </a:lnTo>
                <a:lnTo>
                  <a:pt x="0" y="35541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3136" t="-22232" r="-29451" b="-2409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17208" y="4573874"/>
            <a:ext cx="2596725" cy="1847857"/>
          </a:xfrm>
          <a:custGeom>
            <a:avLst/>
            <a:gdLst/>
            <a:ahLst/>
            <a:cxnLst/>
            <a:rect l="l" t="t" r="r" b="b"/>
            <a:pathLst>
              <a:path w="2596725" h="1847857">
                <a:moveTo>
                  <a:pt x="0" y="0"/>
                </a:moveTo>
                <a:lnTo>
                  <a:pt x="2596725" y="0"/>
                </a:lnTo>
                <a:lnTo>
                  <a:pt x="2596725" y="1847857"/>
                </a:lnTo>
                <a:lnTo>
                  <a:pt x="0" y="18478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79739" y="528002"/>
            <a:ext cx="14928522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The website frontend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487775" y="257175"/>
            <a:ext cx="1543050" cy="154305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5B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35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5957073" y="1424623"/>
            <a:ext cx="6021760" cy="8635958"/>
          </a:xfrm>
          <a:custGeom>
            <a:avLst/>
            <a:gdLst/>
            <a:ahLst/>
            <a:cxnLst/>
            <a:rect l="l" t="t" r="r" b="b"/>
            <a:pathLst>
              <a:path w="6021760" h="8635958">
                <a:moveTo>
                  <a:pt x="0" y="0"/>
                </a:moveTo>
                <a:lnTo>
                  <a:pt x="6021761" y="0"/>
                </a:lnTo>
                <a:lnTo>
                  <a:pt x="6021761" y="8635958"/>
                </a:lnTo>
                <a:lnTo>
                  <a:pt x="0" y="8635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DFFD8">
                <a:alpha val="100000"/>
              </a:srgbClr>
            </a:gs>
            <a:gs pos="100000">
              <a:srgbClr val="94B9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881034" y="2663125"/>
            <a:ext cx="7885586" cy="4960750"/>
          </a:xfrm>
          <a:custGeom>
            <a:avLst/>
            <a:gdLst/>
            <a:ahLst/>
            <a:cxnLst/>
            <a:rect l="l" t="t" r="r" b="b"/>
            <a:pathLst>
              <a:path w="7885586" h="4960750">
                <a:moveTo>
                  <a:pt x="0" y="0"/>
                </a:moveTo>
                <a:lnTo>
                  <a:pt x="7885586" y="0"/>
                </a:lnTo>
                <a:lnTo>
                  <a:pt x="7885586" y="4960750"/>
                </a:lnTo>
                <a:lnTo>
                  <a:pt x="0" y="4960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4376418"/>
            <a:ext cx="15787800" cy="1705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098"/>
              </a:lnSpc>
            </a:pPr>
            <a:r>
              <a:rPr lang="en-US" sz="12357" spc="457">
                <a:solidFill>
                  <a:srgbClr val="1F1E4A"/>
                </a:solidFill>
                <a:latin typeface="Chau Philomene"/>
                <a:ea typeface="Chau Philomene"/>
                <a:cs typeface="Chau Philomene"/>
                <a:sym typeface="Chau Philomene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1813</Words>
  <Application>Microsoft Office PowerPoint</Application>
  <PresentationFormat>Custom</PresentationFormat>
  <Paragraphs>286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Chau Philomene</vt:lpstr>
      <vt:lpstr>More Sugar</vt:lpstr>
      <vt:lpstr>Now</vt:lpstr>
      <vt:lpstr>Arial</vt:lpstr>
      <vt:lpstr>Now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Bored Games</dc:title>
  <cp:lastModifiedBy>Nissanth NADARASSIN</cp:lastModifiedBy>
  <cp:revision>2</cp:revision>
  <dcterms:created xsi:type="dcterms:W3CDTF">2006-08-16T00:00:00Z</dcterms:created>
  <dcterms:modified xsi:type="dcterms:W3CDTF">2025-05-19T20:44:16Z</dcterms:modified>
  <dc:identifier>DAGn0zroGL4</dc:identifier>
</cp:coreProperties>
</file>